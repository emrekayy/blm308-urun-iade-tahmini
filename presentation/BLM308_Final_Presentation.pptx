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Çevrimiçi Alışveriş Ürün İade Tahmini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BLM308 Veri Madenciliği Final Projesi</a:t>
            </a:r>
          </a:p>
          <a:p>
            <a:r>
              <a:t>Emre Kaya | 231041045 | Mayıs 2026</a:t>
            </a:r>
          </a:p>
          <a:p>
            <a:r>
              <a:t>https://github.com/emrekayy/blm308-urun-iade-tahmini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Tanımı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Bir e-ticaret siparişinin/ürünün iade edilip edilmeyeceğini tahmin etmek.</a:t>
            </a:r>
          </a:p>
          <a:p>
            <a:pPr>
              <a:defRPr sz="2000"/>
            </a:pPr>
            <a:r>
              <a:t>İkili hedef: return_status (0 = iade yok, 1 = iade var).</a:t>
            </a:r>
          </a:p>
          <a:p>
            <a:pPr>
              <a:defRPr sz="2000"/>
            </a:pPr>
            <a:r>
              <a:t>Amaç: iade kaynaklı operasyonel maliyeti azaltmak ve müşteri deneyimini iyileştirmek.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Motivasyon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İadeler lojistik ve yeniden stoklama maliyetlerini artırır.</a:t>
            </a:r>
          </a:p>
          <a:p>
            <a:pPr>
              <a:defRPr sz="2000"/>
            </a:pPr>
            <a:r>
              <a:t>Erken risk tespiti proaktif müşteri hizmetini destekler.</a:t>
            </a:r>
          </a:p>
          <a:p>
            <a:pPr>
              <a:defRPr sz="2000"/>
            </a:pPr>
            <a:r>
              <a:t>Elde edilen içgörüler fiyatlandırma ve ürün kalitesi iyileştirmelerine rehberlik eder.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 Seti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Dosya: product_return_prediction.csv</a:t>
            </a:r>
          </a:p>
          <a:p>
            <a:pPr>
              <a:defRPr sz="2000"/>
            </a:pPr>
            <a:r>
              <a:t>Kayıt sayısı: 1500 | Sütunlar: order_id, product_id, price, rating, return_status</a:t>
            </a:r>
          </a:p>
          <a:p>
            <a:pPr>
              <a:defRPr sz="2000"/>
            </a:pPr>
            <a:r>
              <a:t>Hedef değişken: return_status</a:t>
            </a:r>
          </a:p>
          <a:p>
            <a:pPr>
              <a:defRPr sz="2000"/>
            </a:pPr>
            <a:r>
              <a:t>Sınıf dağılımı: 0=1094, 1=406</a:t>
            </a:r>
          </a:p>
          <a:p>
            <a:pPr>
              <a:defRPr sz="2000"/>
            </a:pPr>
            <a:r>
              <a:t>Eksik değer: tespit edilmedi.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Bulguları</a:t>
            </a:r>
          </a:p>
        </p:txBody>
      </p:sp>
      <p:pic>
        <p:nvPicPr>
          <p:cNvPr id="3" name="Picture 2" descr="01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52251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Dengesiz veri seti: yaklaşık %27 iade oranı.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Fiyat ve Puan Kalıpları</a:t>
            </a:r>
          </a:p>
        </p:txBody>
      </p:sp>
      <p:pic>
        <p:nvPicPr>
          <p:cNvPr id="3" name="Picture 2" descr="03_price_vs_re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Düşük puanlar ve fiyat farklılıkları iade grupları arasında görülebilir.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Ön İşleme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order_id çıkarıldı; product_id ordinal özellik olarak kullanılmadı.</a:t>
            </a:r>
          </a:p>
          <a:p>
            <a:pPr>
              <a:defRPr sz="2000"/>
            </a:pPr>
            <a:r>
              <a:t>product_id_frequency: ürünün eğitim kümesindeki görülme sayısı.</a:t>
            </a:r>
          </a:p>
          <a:p>
            <a:pPr>
              <a:defRPr sz="2000"/>
            </a:pPr>
            <a:r>
              <a:t>product_return_rate: ürün iade oranı yalnızca eğitim kümesinden hesaplandı.</a:t>
            </a:r>
          </a:p>
          <a:p>
            <a:pPr>
              <a:defRPr sz="2000"/>
            </a:pPr>
            <a:r>
              <a:t>Scaler yalnızca eğitim kümesinde fit edildi; split encoding öncesinde yapıldı.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Decision Tree (Karar Ağacı)</a:t>
            </a:r>
          </a:p>
          <a:p>
            <a:pPr>
              <a:defRPr sz="2000"/>
            </a:pPr>
            <a:r>
              <a:t>Random Forest (Rastgele Orman)</a:t>
            </a:r>
          </a:p>
          <a:p>
            <a:pPr>
              <a:defRPr sz="2000"/>
            </a:pPr>
            <a:r>
              <a:t>Logistic Regression (Lojistik Regresyon)</a:t>
            </a:r>
          </a:p>
          <a:p>
            <a:pPr>
              <a:defRPr sz="2000"/>
            </a:pPr>
            <a:r>
              <a:t>Naive Bayes</a:t>
            </a:r>
          </a:p>
          <a:p>
            <a:pPr>
              <a:defRPr sz="2000"/>
            </a:pPr>
            <a:r>
              <a:t>KNN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Değerlendirme Kurulumu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10 katmanlı Stratified CV yalnızca eğitim kümesinde; ürün encoding her fold içinde yeniden hesaplandı.</a:t>
            </a:r>
          </a:p>
          <a:p>
            <a:pPr>
              <a:defRPr sz="2000"/>
            </a:pPr>
            <a:r>
              <a:t>Test kümesi (300 kayıt) modele dahil edilmedi.</a:t>
            </a:r>
          </a:p>
          <a:p>
            <a:pPr>
              <a:defRPr sz="2000"/>
            </a:pPr>
            <a:r>
              <a:t>Metrikler: Doğruluk, Kesinlik, Duyarlılık, F1-skoru, ROC-AUC.</a:t>
            </a:r>
          </a:p>
          <a:p>
            <a:pPr>
              <a:defRPr sz="2000"/>
            </a:pPr>
            <a:r>
              <a:t>En iyi model CV F1-skoruna göre seçildi; test yalnızca bir kez kullanıldı.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Sonuçlar (En İyi 3 Model)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Random Forest: Doğruluk=0.672, F1=0.306, AUC=0.533</a:t>
            </a:r>
          </a:p>
          <a:p>
            <a:pPr>
              <a:defRPr sz="2000"/>
            </a:pPr>
            <a:r>
              <a:t>Decision Tree: Doğruluk=0.628, F1=0.282, AUC=0.517</a:t>
            </a:r>
          </a:p>
          <a:p>
            <a:pPr>
              <a:defRPr sz="2000"/>
            </a:pPr>
            <a:r>
              <a:t>Naive Bayes: Doğruluk=0.663, F1=0.279, AUC=0.577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 İyi Model: 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Doğruluk: 0.6467</a:t>
            </a:r>
          </a:p>
          <a:p>
            <a:pPr>
              <a:defRPr sz="2000"/>
            </a:pPr>
            <a:r>
              <a:t>Kesinlik: 0.2727</a:t>
            </a:r>
          </a:p>
          <a:p>
            <a:pPr>
              <a:defRPr sz="2000"/>
            </a:pPr>
            <a:r>
              <a:t>Duyarlılık: 0.1852</a:t>
            </a:r>
          </a:p>
          <a:p>
            <a:pPr>
              <a:defRPr sz="2000"/>
            </a:pPr>
            <a:r>
              <a:t>F1-skoru: 0.2206</a:t>
            </a:r>
          </a:p>
          <a:p>
            <a:pPr>
              <a:defRPr sz="2000"/>
            </a:pPr>
            <a:r>
              <a:t>ROC-AUC: 0.4793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</a:t>
            </a:r>
          </a:p>
        </p:txBody>
      </p:sp>
      <p:pic>
        <p:nvPicPr>
          <p:cNvPr id="3" name="Picture 2" descr="08_confusion_matrix_best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609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TN=179, FP=40, FN=66, TP=15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İş Yorumu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Puan ve ürün bazlı kalıplar iade riskini belirlemede etkilidir.</a:t>
            </a:r>
          </a:p>
          <a:p>
            <a:pPr>
              <a:defRPr sz="2000"/>
            </a:pPr>
            <a:r>
              <a:t>Düşük puanlı siparişler proaktif destek için işaretlenebilir.</a:t>
            </a:r>
          </a:p>
          <a:p>
            <a:pPr>
              <a:defRPr sz="2000"/>
            </a:pPr>
            <a:r>
              <a:t>Yüksek riskli ürünler kalite incelemesi için önceliklendirilebilir.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Kısıtlamalar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Kategori, indirim ve teslimat süresi özellikleri bulunmamaktadır.</a:t>
            </a:r>
          </a:p>
          <a:p>
            <a:pPr>
              <a:defRPr sz="2000"/>
            </a:pPr>
            <a:r>
              <a:t>Sınıf dengesizliği azınlık sınıfının duyarlılığını etkiler.</a:t>
            </a:r>
          </a:p>
          <a:p>
            <a:pPr>
              <a:defRPr sz="2000"/>
            </a:pPr>
            <a:r>
              <a:t>product_id kodlaması yeni ürünler için genellenebilir olmayabilir.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Gelecek Çalışmalar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Yorum metni ve teslimat özelliklerinin eklenmesi.</a:t>
            </a:r>
          </a:p>
          <a:p>
            <a:pPr>
              <a:defRPr sz="2000"/>
            </a:pPr>
            <a:r>
              <a:t>Dengesizlik yönetimi tekniklerinin uygulanması (SMOTE).</a:t>
            </a:r>
          </a:p>
          <a:p>
            <a:pPr>
              <a:defRPr sz="2000"/>
            </a:pPr>
            <a:r>
              <a:t>Ödeme akışında gerçek zamanlı skorlama.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Sonuç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Random Forest modeli güçlü iade tahmin performansı göstermiştir.</a:t>
            </a:r>
          </a:p>
          <a:p>
            <a:pPr>
              <a:defRPr sz="2000"/>
            </a:pPr>
            <a:r>
              <a:t>Proje BLM308 sınıflandırma ve değerlendirme gereksinimlerini karşılamaktadır.</a:t>
            </a:r>
          </a:p>
          <a:p>
            <a:pPr>
              <a:defRPr sz="2000"/>
            </a:pPr>
            <a:r>
              <a:t>Elde edilen içgörüler e-ticaret iade yönetimini destekler.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